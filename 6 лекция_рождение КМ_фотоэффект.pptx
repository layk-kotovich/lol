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08" r:id="rId2"/>
    <p:sldId id="309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9" r:id="rId31"/>
    <p:sldId id="270" r:id="rId32"/>
    <p:sldId id="271" r:id="rId33"/>
    <p:sldId id="272" r:id="rId34"/>
    <p:sldId id="273" r:id="rId35"/>
    <p:sldId id="274" r:id="rId3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75E92-DE44-46D3-9888-AD9A0842D6BA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9B31B-C65E-4726-8F65-A4F3405544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22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волны, связанные с движущимися частицами, не имеют никакого отношения к распространению какого-либо электромагнитного поля. Среди известных в физике</a:t>
            </a:r>
          </a:p>
          <a:p>
            <a:r>
              <a:rPr lang="ru-RU" dirty="0"/>
              <a:t>электромагнитных, акустических и других волн нет аналога «волнам вероятности», связанным с движущимися частицами вещества.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89B31B-C65E-4726-8F65-A4F3405544D6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627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волны, связанные с движущимися частицами, не имеют никакого отношения к распространению какого-либо электромагнитного поля, к электромагнитным волнам. Среди известных в физике</a:t>
            </a:r>
          </a:p>
          <a:p>
            <a:r>
              <a:rPr lang="ru-RU" dirty="0"/>
              <a:t>электромагнитных, акустических и других волн нет аналога «волнам вероятности», связанным с движущимися частицами вещества.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89B31B-C65E-4726-8F65-A4F3405544D6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62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8DC23-C512-497B-9F55-FB42880F4978}" type="datetime1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27450-9A02-4EF9-BD31-830AD3121AC0}" type="datetime1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2E0B0-2916-4BF1-B5F1-DA0D47E888A0}" type="datetime1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A448-6FBE-404F-89D2-AEA92E63037C}" type="datetime1">
              <a:rPr lang="ru-RU" smtClean="0"/>
              <a:t>08.04.2026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C04B-2E10-4129-BCEE-1D59A7C43F96}" type="datetime1">
              <a:rPr lang="ru-RU" smtClean="0"/>
              <a:t>08.04.2026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DC707-628F-467D-B2D3-61F021782FE3}" type="datetime1">
              <a:rPr lang="ru-RU" smtClean="0"/>
              <a:t>08.04.2026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E51E-0D8C-413D-88D2-9AEE66C95089}" type="datetime1">
              <a:rPr lang="ru-RU" smtClean="0"/>
              <a:t>08.04.2026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4764-E432-4178-8194-64486241B607}" type="datetime1">
              <a:rPr lang="ru-RU" smtClean="0"/>
              <a:t>08.04.2026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3A083-1723-493C-97A1-97CF47135300}" type="datetime1">
              <a:rPr lang="ru-RU" smtClean="0"/>
              <a:t>08.04.2026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8B6B5-4615-4D90-9CEE-CA25BCC7C4EF}" type="datetime1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C067D-B128-4578-810D-FD7C11D925F7}" type="datetime1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D2233-2042-41EF-BAFB-392F740B5834}" type="datetime1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764704"/>
                <a:ext cx="8856984" cy="36080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dirty="0" err="1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Излучательность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черного тела пропорциональна его термодинамической температуре в 4-ой степени:</a:t>
                </a: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borderBoxPr>
                        <m:e>
                          <m:r>
                            <a:rPr lang="en-US" sz="2800" i="1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𝑅</m:t>
                          </m:r>
                          <m:r>
                            <a:rPr lang="en-US" sz="2800" i="1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=</m:t>
                          </m:r>
                          <m:r>
                            <a:rPr lang="en-US" sz="2800" i="1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𝜎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borderBox>
                    </m:oMath>
                  </m:oMathPara>
                </a14:m>
                <a:endParaRPr lang="en-US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𝜎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=5,67∙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−8</m:t>
                        </m:r>
                      </m:sup>
                    </m:sSup>
                    <m:r>
                      <a:rPr lang="ru-RU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 Вт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∙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ru-RU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К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- постоянная Стефана-Больцмана.</a:t>
                </a:r>
                <a:endParaRPr lang="en-US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en-US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764704"/>
                <a:ext cx="8856984" cy="3608039"/>
              </a:xfrm>
              <a:prstGeom prst="rect">
                <a:avLst/>
              </a:prstGeom>
              <a:blipFill rotWithShape="1">
                <a:blip r:embed="rId2"/>
                <a:stretch>
                  <a:fillRect l="-1376" t="-1689" r="-14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292" y="181442"/>
            <a:ext cx="88569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Закон Стефана-Больцмана</a:t>
            </a:r>
          </a:p>
        </p:txBody>
      </p:sp>
    </p:spTree>
    <p:extLst>
      <p:ext uri="{BB962C8B-B14F-4D97-AF65-F5344CB8AC3E}">
        <p14:creationId xmlns:p14="http://schemas.microsoft.com/office/powerpoint/2010/main" val="3979343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764704"/>
                <a:ext cx="8856984" cy="2981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При рассмотрении задачи об адиабатическом сжатии излучения в цилиндрическом сосуде с зеркальными стенками и подвижным зеркальным поршнем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, Вильгельм Вин получил выражение для функции Кирхгофа: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𝜈</m:t>
                          </m:r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𝜈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𝜈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764704"/>
                <a:ext cx="8856984" cy="2981714"/>
              </a:xfrm>
              <a:prstGeom prst="rect">
                <a:avLst/>
              </a:prstGeom>
              <a:blipFill rotWithShape="1">
                <a:blip r:embed="rId2"/>
                <a:stretch>
                  <a:fillRect l="-1376" t="-2041" r="-14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292" y="181442"/>
            <a:ext cx="88569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Закон смещения Вина</a:t>
            </a:r>
          </a:p>
        </p:txBody>
      </p:sp>
    </p:spTree>
    <p:extLst>
      <p:ext uri="{BB962C8B-B14F-4D97-AF65-F5344CB8AC3E}">
        <p14:creationId xmlns:p14="http://schemas.microsoft.com/office/powerpoint/2010/main" val="2193459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4292" y="764704"/>
            <a:ext cx="885698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i="1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Формула Вина дает хорошее согласие с опытом в коротковолновой части спектра и не годится для длинноволновой.</a:t>
            </a:r>
            <a:endParaRPr lang="en-US" sz="2800" i="1" dirty="0">
              <a:solidFill>
                <a:srgbClr val="FF0000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endParaRPr lang="ru-RU"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886" y="2492896"/>
            <a:ext cx="5639795" cy="3294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1042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116632"/>
                <a:ext cx="8856984" cy="3336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Также Вин объяснил зависимость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𝑚𝑎𝑥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𝑇</m:t>
                        </m:r>
                      </m:e>
                    </m:d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:</m:t>
                    </m:r>
                  </m:oMath>
                </a14:m>
                <a:endParaRPr lang="en-US" sz="2800" b="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b="1" i="1" u="sng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Закон смещения Вина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:</a:t>
                </a:r>
                <a:endParaRPr lang="en-US" sz="2800" b="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Tahoma" pitchFamily="34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/>
                                      <a:ea typeface="Tahoma" pitchFamily="34" charset="0"/>
                                      <a:cs typeface="Times New Roman" pitchFamily="18" charset="0"/>
                                    </a:rPr>
                                    <m:t>𝜈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/>
                                      <a:ea typeface="Tahoma" pitchFamily="34" charset="0"/>
                                      <a:cs typeface="Times New Roman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sz="2800" i="1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=</m:t>
                          </m:r>
                          <m:r>
                            <a:rPr lang="en-US" sz="2800" i="1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𝑐𝑜𝑛𝑠𝑡</m:t>
                          </m:r>
                        </m:e>
                      </m:borderBox>
                    </m:oMath>
                  </m:oMathPara>
                </a14:m>
                <a:endParaRPr lang="en-US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Или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𝑚𝑎𝑥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𝑏</m:t>
                        </m:r>
                      </m:num>
                      <m:den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𝑇</m:t>
                        </m:r>
                      </m:den>
                    </m:f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,</m:t>
                    </m:r>
                    <m:r>
                      <a:rPr lang="ru-RU" sz="2800" i="1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 </m:t>
                    </m:r>
                  </m:oMath>
                </a14:m>
                <a:endParaRPr lang="en-US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где постоянная Вина: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=2,9∙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−3</m:t>
                        </m:r>
                      </m:sup>
                    </m:sSup>
                    <m:r>
                      <a:rPr lang="ru-RU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 м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∙</m:t>
                    </m:r>
                    <m:r>
                      <a:rPr lang="ru-RU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К</m:t>
                    </m:r>
                  </m:oMath>
                </a14:m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116632"/>
                <a:ext cx="8856984" cy="3336683"/>
              </a:xfrm>
              <a:prstGeom prst="rect">
                <a:avLst/>
              </a:prstGeom>
              <a:blipFill rotWithShape="1">
                <a:blip r:embed="rId2"/>
                <a:stretch>
                  <a:fillRect l="-1376" t="-1828" b="-42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7"/>
          <a:stretch/>
        </p:blipFill>
        <p:spPr bwMode="auto">
          <a:xfrm>
            <a:off x="1619672" y="3645024"/>
            <a:ext cx="5472608" cy="2976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6885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764704"/>
                <a:ext cx="8856984" cy="54335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С помощью статистической физики Рэлей рассмотрел равновесное излучение в замкнутой полости с зеркальными стенками как совокупность стоячих электромагнитных волн (осцилляторов). Джинс уточнил расчеты:</a:t>
                </a: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b="1" i="1" u="sng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Формула Рэлея-Джинса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:</a:t>
                </a:r>
                <a:endParaRPr lang="en-US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𝜈</m:t>
                              </m:r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,</m:t>
                              </m:r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sz="2800" i="1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2</m:t>
                              </m:r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Tahoma" pitchFamily="34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/>
                                      <a:ea typeface="Tahoma" pitchFamily="34" charset="0"/>
                                      <a:cs typeface="Times New Roman" pitchFamily="18" charset="0"/>
                                    </a:rPr>
                                    <m:t>𝜈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/>
                                      <a:ea typeface="Tahoma" pitchFamily="34" charset="0"/>
                                      <a:cs typeface="Times New Roman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Tahoma" pitchFamily="34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/>
                                      <a:ea typeface="Tahoma" pitchFamily="34" charset="0"/>
                                      <a:cs typeface="Times New Roman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/>
                                      <a:ea typeface="Tahoma" pitchFamily="34" charset="0"/>
                                      <a:cs typeface="Times New Roman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800" i="1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𝑘𝑇</m:t>
                          </m:r>
                        </m:e>
                      </m:borderBox>
                    </m:oMath>
                  </m:oMathPara>
                </a14:m>
                <a:endParaRPr lang="en-US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en-US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Справедлива только для</a:t>
                </a: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малых частот.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764704"/>
                <a:ext cx="8856984" cy="5433539"/>
              </a:xfrm>
              <a:prstGeom prst="rect">
                <a:avLst/>
              </a:prstGeom>
              <a:blipFill rotWithShape="0">
                <a:blip r:embed="rId2"/>
                <a:stretch>
                  <a:fillRect l="-1376" t="-1121" r="-1445" b="-21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292" y="181442"/>
            <a:ext cx="88569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Формула Рэлея-Джинса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859832"/>
            <a:ext cx="3279156" cy="191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0049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1974319"/>
                <a:ext cx="8856984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i="1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Попытка получить из этой формулы закон Стефана-Больцмана приводила к абсурду: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𝑅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→∞</m:t>
                    </m:r>
                  </m:oMath>
                </a14:m>
                <a:endParaRPr lang="ru-RU" sz="2800" i="1" dirty="0">
                  <a:solidFill>
                    <a:srgbClr val="FF0000"/>
                  </a:solidFill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i="1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Этот результат получил название </a:t>
                </a:r>
                <a:r>
                  <a:rPr lang="ru-RU" sz="2800" b="1" i="1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ультрафиолетовой катастрофы</a:t>
                </a:r>
                <a:r>
                  <a:rPr lang="ru-RU" sz="2800" i="1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, хотя с точки зрения классической физики вывод был сделан безупречно.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1974319"/>
                <a:ext cx="8856984" cy="2246769"/>
              </a:xfrm>
              <a:prstGeom prst="rect">
                <a:avLst/>
              </a:prstGeom>
              <a:blipFill rotWithShape="1">
                <a:blip r:embed="rId2"/>
                <a:stretch>
                  <a:fillRect l="-1376" t="-2717" r="-1445" b="-67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016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4292" y="764704"/>
            <a:ext cx="885698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Планк выбрал простую модель излучающей системы (стенок полости) в виде гармонических осцилляторов (электрических диполей) с различными собственными частотами</a:t>
            </a:r>
            <a:r>
              <a:rPr lang="en-US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(</a:t>
            </a:r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тут </a:t>
            </a:r>
            <a:r>
              <a:rPr lang="ru-RU" sz="2800" dirty="0" err="1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гифки</a:t>
            </a:r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 диполей-осцилляторов</a:t>
            </a:r>
            <a:r>
              <a:rPr lang="ru-RU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):</a:t>
            </a:r>
          </a:p>
          <a:p>
            <a:pPr algn="just"/>
            <a:endParaRPr lang="ru-RU"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7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292" y="181442"/>
            <a:ext cx="88569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Формула Планка</a:t>
            </a:r>
          </a:p>
        </p:txBody>
      </p:sp>
      <p:pic>
        <p:nvPicPr>
          <p:cNvPr id="3074" name="Picture 2" descr="Best Simple Harmonic Motion GIFs | Gfycat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032578"/>
            <a:ext cx="3867150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www.takuichi.net/hobby/edu/em/staticem/static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2856364"/>
            <a:ext cx="2743200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74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764704"/>
                <a:ext cx="8856984" cy="56938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Планк связал энергию осциллятора не с температурой, а с его </a:t>
                </a:r>
                <a:r>
                  <a:rPr lang="ru-RU" sz="2800" b="1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энтропией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.</a:t>
                </a: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По Больцману энтропия: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𝑘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𝛺</m:t>
                          </m:r>
                        </m:e>
                      </m:func>
                    </m:oMath>
                  </m:oMathPara>
                </a14:m>
                <a:endParaRPr lang="en-US" sz="2800" b="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𝛺</m:t>
                    </m:r>
                  </m:oMath>
                </a14:m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– </a:t>
                </a:r>
                <a:r>
                  <a:rPr lang="ru-RU" sz="2800" b="1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термодинамическая вероятность 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– число возможных способов распределения энергии между осцилляторами.</a:t>
                </a: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i="1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Такой способ подсчета возможен, если энергия будет принимать </a:t>
                </a:r>
                <a:r>
                  <a:rPr lang="ru-RU" sz="2800" b="1" i="1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не любые непрерывные значения, а лишь </a:t>
                </a:r>
                <a:r>
                  <a:rPr lang="ru-RU" sz="2800" b="1" i="1" u="sng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дискретные</a:t>
                </a:r>
                <a:r>
                  <a:rPr lang="ru-RU" sz="2800" i="1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, кратные некоторой </a:t>
                </a:r>
                <a:r>
                  <a:rPr lang="ru-RU" sz="2800" b="1" i="1" u="sng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единичной энергии</a:t>
                </a:r>
                <a:r>
                  <a:rPr lang="ru-RU" sz="2800" i="1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.</a:t>
                </a: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764704"/>
                <a:ext cx="8856984" cy="5693866"/>
              </a:xfrm>
              <a:prstGeom prst="rect">
                <a:avLst/>
              </a:prstGeom>
              <a:blipFill rotWithShape="1">
                <a:blip r:embed="rId2"/>
                <a:stretch>
                  <a:fillRect l="-1376" t="-1071" r="-14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14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764704"/>
                <a:ext cx="8856984" cy="45908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b="1" i="1" u="sng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Гипотеза Планка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:</a:t>
                </a: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Энергия осциллятора должна быть целым, кратным некоторой единице энергии и пропорциональной частоте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𝜈</m:t>
                    </m:r>
                  </m:oMath>
                </a14:m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𝑛h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𝜈</m:t>
                      </m:r>
                    </m:oMath>
                  </m:oMathPara>
                </a14:m>
                <a:endParaRPr lang="en-US" sz="2800" b="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=1,2,3….</m:t>
                    </m:r>
                  </m:oMath>
                </a14:m>
                <a:endParaRPr lang="ru-RU" sz="2800" b="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b="1" i="1" u="sng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Минимальная порция энергии 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(квант энергии):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𝐸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h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𝜈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=ℏ</m:t>
                      </m:r>
                      <m:r>
                        <a:rPr lang="en-US" sz="2800" b="0" i="1" smtClean="0">
                          <a:latin typeface="Cambria Math"/>
                          <a:ea typeface="Cambria Math"/>
                          <a:cs typeface="Times New Roman" pitchFamily="18" charset="0"/>
                        </a:rPr>
                        <m:t>𝜔</m:t>
                      </m:r>
                    </m:oMath>
                  </m:oMathPara>
                </a14:m>
                <a:endParaRPr lang="en-US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h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=6,62∙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−34</m:t>
                        </m:r>
                      </m:sup>
                    </m:sSup>
                  </m:oMath>
                </a14:m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- постоянная Планка;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  <a:cs typeface="Times New Roman" pitchFamily="18" charset="0"/>
                      </a:rPr>
                      <m:t>ℏ</m:t>
                    </m:r>
                    <m:r>
                      <a:rPr lang="en-US" sz="28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h</m:t>
                        </m:r>
                      </m:num>
                      <m:den>
                        <m:r>
                          <a:rPr lang="en-US" sz="28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2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𝜋</m:t>
                        </m:r>
                      </m:den>
                    </m:f>
                  </m:oMath>
                </a14:m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764704"/>
                <a:ext cx="8856984" cy="4590872"/>
              </a:xfrm>
              <a:prstGeom prst="rect">
                <a:avLst/>
              </a:prstGeom>
              <a:blipFill rotWithShape="0">
                <a:blip r:embed="rId2"/>
                <a:stretch>
                  <a:fillRect l="-1376" t="-1326" r="-1445" b="-5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9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035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764704"/>
                <a:ext cx="8856984" cy="44200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Окончательный вид формулы Планка для функции Кирхгофа: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𝜈</m:t>
                          </m:r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𝑇</m:t>
                          </m:r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𝜋</m:t>
                          </m:r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h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𝜈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Tahoma" pitchFamily="34" charset="0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/>
                                      <a:ea typeface="Tahoma" pitchFamily="34" charset="0"/>
                                      <a:cs typeface="Times New Roman" pitchFamily="18" charset="0"/>
                                    </a:rPr>
                                    <m:t>h</m:t>
                                  </m:r>
                                  <m:r>
                                    <a:rPr lang="en-US" sz="2800" b="0" i="1" smtClean="0">
                                      <a:latin typeface="Cambria Math"/>
                                      <a:ea typeface="Tahoma" pitchFamily="34" charset="0"/>
                                      <a:cs typeface="Times New Roman" pitchFamily="18" charset="0"/>
                                    </a:rPr>
                                    <m:t>𝜈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/>
                                      <a:ea typeface="Tahoma" pitchFamily="34" charset="0"/>
                                      <a:cs typeface="Times New Roman" pitchFamily="18" charset="0"/>
                                    </a:rPr>
                                    <m:t>𝑘𝑇</m:t>
                                  </m:r>
                                </m:den>
                              </m:f>
                            </m:sup>
                          </m:sSup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en-US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Вывод этой формулы М. Планк представил </a:t>
                </a:r>
                <a:r>
                  <a:rPr lang="ru-RU" sz="2800" b="1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14 декабря 1900 г.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на заседании Немецкого физического общества.</a:t>
                </a: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b="1" i="1" u="sng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Этот день стал датой рождения квантовой физики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764704"/>
                <a:ext cx="8856984" cy="4420056"/>
              </a:xfrm>
              <a:prstGeom prst="rect">
                <a:avLst/>
              </a:prstGeom>
              <a:blipFill rotWithShape="1">
                <a:blip r:embed="rId2"/>
                <a:stretch>
                  <a:fillRect l="-1376" t="-1377" r="-1445" b="-27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817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4292" y="764704"/>
            <a:ext cx="8856984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При освещении отрицательного электрода УФ излучением, разряд между электродами </a:t>
            </a:r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(искра)</a:t>
            </a:r>
            <a:r>
              <a:rPr lang="ru-RU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происходит при меньшем напряжении </a:t>
            </a:r>
            <a:r>
              <a:rPr lang="en-US" sz="2800" i="1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U</a:t>
            </a:r>
            <a:r>
              <a:rPr lang="ru-RU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. Это явление обусловлено выбиванием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(</a:t>
            </a:r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под действием света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)</a:t>
            </a:r>
            <a:r>
              <a:rPr lang="ru-RU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электронов из электрода.</a:t>
            </a:r>
          </a:p>
          <a:p>
            <a:pPr algn="just"/>
            <a:endParaRPr lang="ru-RU"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r>
              <a:rPr lang="ru-RU" sz="2800" b="1" i="1" u="sng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Внешний фотоэффект</a:t>
            </a:r>
            <a:r>
              <a:rPr lang="ru-RU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– испускание электронов веществом под действием ЭМ излучения.</a:t>
            </a:r>
          </a:p>
          <a:p>
            <a:pPr algn="just"/>
            <a:endParaRPr lang="ru-RU"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r>
              <a:rPr lang="ru-RU" sz="2800" b="1" i="1" u="sng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Внутренний фотоэффект</a:t>
            </a:r>
            <a:r>
              <a:rPr lang="ru-RU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– электромагнитное излучение вызывает переходы электронов внутри полупроводника или диэлектрика из связанных состояний в свободные, без вылета наружу.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292" y="181442"/>
            <a:ext cx="88569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Фотоэффект</a:t>
            </a:r>
          </a:p>
        </p:txBody>
      </p:sp>
    </p:spTree>
    <p:extLst>
      <p:ext uri="{BB962C8B-B14F-4D97-AF65-F5344CB8AC3E}">
        <p14:creationId xmlns:p14="http://schemas.microsoft.com/office/powerpoint/2010/main" val="2293546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4292" y="764704"/>
            <a:ext cx="88569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Схема для изучения фотоэффекта:</a:t>
            </a:r>
          </a:p>
          <a:p>
            <a:pPr algn="just"/>
            <a:endParaRPr lang="ru-RU"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12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592" y="1556792"/>
            <a:ext cx="4404384" cy="4941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162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4292" y="764704"/>
            <a:ext cx="88569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Зависимость фототока от напряжения (ВАХ):</a:t>
            </a:r>
          </a:p>
          <a:p>
            <a:pPr algn="just"/>
            <a:endParaRPr lang="ru-RU"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13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3359" y="1844824"/>
            <a:ext cx="603885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0389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764704"/>
                <a:ext cx="8856984" cy="53016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b="1" i="1" u="sng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1 закон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: </a:t>
                </a: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Сила тока насыщения пропорциональна энергетической освещенности катода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ru-RU" sz="2800" b="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.</a:t>
                </a:r>
              </a:p>
              <a:p>
                <a:pPr algn="just"/>
                <a:endParaRPr lang="ru-RU" sz="2800" b="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b="1" i="1" u="sng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2 закон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: </a:t>
                </a: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Максимальная начальная скорость фотоэлектронов не зависит от интенсивности падающего света, а определяется только его частотой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𝜈</m:t>
                    </m:r>
                  </m:oMath>
                </a14:m>
                <a:r>
                  <a:rPr lang="ru-RU" sz="2800" b="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.</a:t>
                </a: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b="1" i="1" u="sng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3 закон</a:t>
                </a:r>
                <a:r>
                  <a:rPr lang="ru-RU" sz="2800" b="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: </a:t>
                </a:r>
              </a:p>
              <a:p>
                <a:pPr algn="just"/>
                <a:r>
                  <a:rPr lang="ru-RU" sz="2800" b="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Для каждого вещества существует минимальная частота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𝜈</m:t>
                        </m:r>
                      </m:e>
                      <m:sub>
                        <m:r>
                          <a:rPr lang="ru-RU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кр</m:t>
                        </m:r>
                      </m:sub>
                    </m:sSub>
                  </m:oMath>
                </a14:m>
                <a:r>
                  <a:rPr lang="en-US" sz="2800" b="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</a:t>
                </a:r>
                <a:r>
                  <a:rPr lang="ru-RU" sz="2800" b="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света, ниже которой фотоэффект невозможен.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764704"/>
                <a:ext cx="8856984" cy="5301644"/>
              </a:xfrm>
              <a:prstGeom prst="rect">
                <a:avLst/>
              </a:prstGeom>
              <a:blipFill rotWithShape="1">
                <a:blip r:embed="rId2"/>
                <a:stretch>
                  <a:fillRect l="-1376" t="-1149" r="-1445" b="-14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14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292" y="181442"/>
            <a:ext cx="88569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Законы внешнего фотоэффекта</a:t>
            </a:r>
          </a:p>
        </p:txBody>
      </p:sp>
    </p:spTree>
    <p:extLst>
      <p:ext uri="{BB962C8B-B14F-4D97-AF65-F5344CB8AC3E}">
        <p14:creationId xmlns:p14="http://schemas.microsoft.com/office/powerpoint/2010/main" val="3703851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4292" y="2852936"/>
            <a:ext cx="88569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Эти законы делают фотоэффект необъяснимым с точки зрения волновой теории света.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15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904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764704"/>
                <a:ext cx="8856984" cy="58098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В 1905 году</a:t>
                </a:r>
                <a:r>
                  <a:rPr lang="en-US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Эйнштейн выдвинул свою гипотезу: </a:t>
                </a:r>
              </a:p>
              <a:p>
                <a:pPr algn="just"/>
                <a:r>
                  <a:rPr lang="ru-RU" sz="2800" b="1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Свет с частотой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𝝂</m:t>
                    </m:r>
                  </m:oMath>
                </a14:m>
                <a:r>
                  <a:rPr lang="ru-RU" sz="2800" b="1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не только испускается, но и распространяется и поглощается веществом отдельными порциями (квантами), энергия которых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=</m:t>
                          </m:r>
                          <m:r>
                            <a:rPr lang="en-US" sz="2800" i="1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sz="2800" i="1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𝜈</m:t>
                          </m:r>
                          <m:r>
                            <m:rPr>
                              <m:nor/>
                            </m:rPr>
                            <a:rPr lang="ru-RU" sz="2800" dirty="0">
                              <a:latin typeface="Times New Roman" pitchFamily="18" charset="0"/>
                              <a:ea typeface="Tahoma" pitchFamily="34" charset="0"/>
                              <a:cs typeface="Times New Roman" pitchFamily="18" charset="0"/>
                            </a:rPr>
                            <m:t> </m:t>
                          </m:r>
                        </m:e>
                      </m:borderBox>
                    </m:oMath>
                  </m:oMathPara>
                </a14:m>
                <a:endParaRPr lang="ru-RU" sz="2800" b="1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i="1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Распространение света нужно рассматривать не как непрерывный волновой процесс, а как поток локализованных в пространстве дискретных световых квантов.</a:t>
                </a: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Квант электромагнитного излучения получил название </a:t>
                </a:r>
                <a:r>
                  <a:rPr lang="ru-RU" sz="2800" b="1" i="1" u="sng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фотон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764704"/>
                <a:ext cx="8856984" cy="5809860"/>
              </a:xfrm>
              <a:prstGeom prst="rect">
                <a:avLst/>
              </a:prstGeom>
              <a:blipFill rotWithShape="1">
                <a:blip r:embed="rId2"/>
                <a:stretch>
                  <a:fillRect l="-1376" t="-1048" r="-1445" b="-18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16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292" y="181442"/>
            <a:ext cx="88569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Фотонная теория света</a:t>
            </a:r>
          </a:p>
        </p:txBody>
      </p:sp>
    </p:spTree>
    <p:extLst>
      <p:ext uri="{BB962C8B-B14F-4D97-AF65-F5344CB8AC3E}">
        <p14:creationId xmlns:p14="http://schemas.microsoft.com/office/powerpoint/2010/main" val="1840399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123468"/>
                <a:ext cx="8856984" cy="67619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b="1" i="1" u="sng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Уравнение Эйнштейна для внешнего фотоэффекта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: </a:t>
                </a:r>
              </a:p>
              <a:p>
                <a:pPr algn="just"/>
                <a:endParaRPr lang="ru-RU" sz="2800" b="1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borderBoxPr>
                        <m:e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𝜈</m:t>
                          </m:r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Tahoma" pitchFamily="34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/>
                                      <a:ea typeface="Tahoma" pitchFamily="34" charset="0"/>
                                      <a:cs typeface="Times New Roman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/>
                                      <a:ea typeface="Tahoma" pitchFamily="34" charset="0"/>
                                      <a:cs typeface="Times New Roman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𝐴</m:t>
                          </m:r>
                        </m:e>
                      </m:borderBox>
                    </m:oMath>
                  </m:oMathPara>
                </a14:m>
                <a:endParaRPr lang="ru-RU" sz="2800" b="1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Энергия фотона идет на кинетическую энергию вылетевшего электрона плюс работа по выбиванию электрона из металла.</a:t>
                </a: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Эту формулу можно проверить экспериментально: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𝑚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𝑚𝑎𝑥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h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𝜈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h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𝜈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h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ru-RU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кр</m:t>
                          </m:r>
                        </m:sub>
                      </m:sSub>
                    </m:oMath>
                  </m:oMathPara>
                </a14:m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ru-RU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з</m:t>
                          </m:r>
                        </m:sub>
                      </m:sSub>
                      <m:r>
                        <a:rPr lang="ru-RU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h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𝜈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ru-RU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кр</m:t>
                          </m:r>
                        </m:sub>
                      </m:sSub>
                      <m:r>
                        <a:rPr lang="ru-RU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)</m:t>
                      </m:r>
                    </m:oMath>
                  </m:oMathPara>
                </a14:m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з</m:t>
                        </m:r>
                      </m:sub>
                    </m:sSub>
                  </m:oMath>
                </a14:m>
                <a:r>
                  <a:rPr lang="en-US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- </a:t>
                </a:r>
                <a:r>
                  <a:rPr lang="ru-RU" sz="2800" b="1" i="1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задерживающее напряжение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, при котором фототока нет </a:t>
                </a:r>
                <a:r>
                  <a:rPr lang="ru-RU" sz="2800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(смотри график ВАХ)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123468"/>
                <a:ext cx="8856984" cy="6761916"/>
              </a:xfrm>
              <a:prstGeom prst="rect">
                <a:avLst/>
              </a:prstGeom>
              <a:blipFill rotWithShape="1">
                <a:blip r:embed="rId2"/>
                <a:stretch>
                  <a:fillRect l="-1376" t="-902" r="-1445" b="-16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17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083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764704"/>
                <a:ext cx="8856984" cy="34131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Частота рассеянного света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𝜈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меньше частоты падающего света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𝜈</m:t>
                    </m:r>
                  </m:oMath>
                </a14:m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.</a:t>
                </a: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Изменение длины волны (частоты) зависит от угла рассеяния</a:t>
                </a:r>
                <a:r>
                  <a:rPr lang="en-US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𝜑</m:t>
                    </m:r>
                  </m:oMath>
                </a14:m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∆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𝐶</m:t>
                          </m:r>
                        </m:sub>
                      </m:sSub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𝜑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2800" b="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𝜆</m:t>
                        </m:r>
                      </m:e>
                      <m:sub>
                        <m:r>
                          <a:rPr lang="ru-RU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С</m:t>
                        </m:r>
                      </m:sub>
                    </m:sSub>
                  </m:oMath>
                </a14:m>
                <a:r>
                  <a:rPr lang="en-US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- 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комптоновская длина волны </a:t>
                </a:r>
                <a:r>
                  <a:rPr lang="ru-RU" sz="2800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(при рассеянии фотона на электроне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𝐶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=2,426</m:t>
                    </m:r>
                    <m:r>
                      <a:rPr lang="ru-RU" sz="2800" b="0" i="1" smtClean="0">
                        <a:solidFill>
                          <a:srgbClr val="FF0000"/>
                        </a:solidFill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 пм=2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,426</m:t>
                    </m:r>
                    <m:r>
                      <a:rPr lang="ru-RU" sz="2800" b="0" i="1" smtClean="0">
                        <a:solidFill>
                          <a:srgbClr val="FF0000"/>
                        </a:solidFill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∙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−12</m:t>
                        </m:r>
                      </m:sup>
                    </m:sSup>
                    <m:r>
                      <a:rPr lang="ru-RU" sz="2800" b="0" i="0" smtClean="0">
                        <a:solidFill>
                          <a:srgbClr val="FF0000"/>
                        </a:solidFill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 м</m:t>
                    </m:r>
                  </m:oMath>
                </a14:m>
                <a:r>
                  <a:rPr lang="ru-RU" sz="2800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764704"/>
                <a:ext cx="8856984" cy="3413114"/>
              </a:xfrm>
              <a:prstGeom prst="rect">
                <a:avLst/>
              </a:prstGeom>
              <a:blipFill rotWithShape="1">
                <a:blip r:embed="rId2"/>
                <a:stretch>
                  <a:fillRect l="-1376" t="-1786" r="-1445" b="-41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18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292" y="181442"/>
            <a:ext cx="88569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Эффект Комптона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956" y="4177818"/>
            <a:ext cx="4431656" cy="2542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525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4292" y="764704"/>
            <a:ext cx="885698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Рентгеновское излучение возникает при бомбардировке твердых мишеней быстрыми электронами:</a:t>
            </a:r>
          </a:p>
          <a:p>
            <a:pPr algn="just"/>
            <a:endParaRPr lang="ru-RU"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endParaRPr lang="ru-RU"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endParaRPr lang="ru-RU"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endParaRPr lang="ru-RU"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endParaRPr lang="ru-RU"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Анод выполнен из тяжелых тугоплавких металлов (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W, Mo, Cu,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Pt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)</a:t>
            </a:r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Попав в анод, электроны испытывают торможение и становятся источником рентгеновских лучей.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19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292" y="181442"/>
            <a:ext cx="88569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Тормозное рентгеновское излучение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409" y="1718811"/>
            <a:ext cx="6762750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7702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4292" y="1692091"/>
            <a:ext cx="885698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Если энергия бомбардирующих анод электронов достаточна для вырывания электронов из внутренних оболочек атома, появляются резкие линии излучения. Частоты этих линий зависят от природы вещества анода</a:t>
            </a:r>
            <a:r>
              <a:rPr lang="en-US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и называются </a:t>
            </a:r>
            <a:r>
              <a:rPr lang="ru-RU" sz="2800" b="1" i="1" u="sng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характеристическими</a:t>
            </a:r>
            <a:r>
              <a:rPr lang="ru-RU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.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20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292" y="181442"/>
            <a:ext cx="88569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Характеристическое рентгеновское излучение</a:t>
            </a:r>
          </a:p>
        </p:txBody>
      </p:sp>
    </p:spTree>
    <p:extLst>
      <p:ext uri="{BB962C8B-B14F-4D97-AF65-F5344CB8AC3E}">
        <p14:creationId xmlns:p14="http://schemas.microsoft.com/office/powerpoint/2010/main" val="1815734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764704"/>
                <a:ext cx="8856984" cy="47769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После вырывания электрона, внешний электрон заполняет образовавшуюся вакансию, и испускает избыток энергии в виде фотона с частотой:</a:t>
                </a: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𝜈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764704"/>
                <a:ext cx="8856984" cy="4776949"/>
              </a:xfrm>
              <a:prstGeom prst="rect">
                <a:avLst/>
              </a:prstGeom>
              <a:blipFill rotWithShape="1">
                <a:blip r:embed="rId2"/>
                <a:stretch>
                  <a:fillRect l="-1376" t="-1276" r="-14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21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503" y="3429000"/>
            <a:ext cx="3456384" cy="3342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5659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764704"/>
                <a:ext cx="8856984" cy="83855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b="1" i="1" u="sng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Закон </a:t>
                </a:r>
                <a:r>
                  <a:rPr lang="ru-RU" sz="2800" b="1" i="1" u="sng" dirty="0" err="1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Мозли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устанавливает связь между частотой рентгеновского спектра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𝜈</m:t>
                    </m:r>
                  </m:oMath>
                </a14:m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с атомным номером испускающего их элемента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𝑍</m:t>
                    </m:r>
                  </m:oMath>
                </a14:m>
                <a:r>
                  <a:rPr lang="en-US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𝜈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𝑅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𝑍</m:t>
                              </m:r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𝜎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Tahoma" pitchFamily="34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/>
                                      <a:ea typeface="Tahoma" pitchFamily="34" charset="0"/>
                                      <a:cs typeface="Times New Roman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/>
                                      <a:ea typeface="Tahoma" pitchFamily="34" charset="0"/>
                                      <a:cs typeface="Times New Roman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Tahoma" pitchFamily="34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/>
                                      <a:ea typeface="Tahoma" pitchFamily="34" charset="0"/>
                                      <a:cs typeface="Times New Roman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/>
                                      <a:ea typeface="Tahoma" pitchFamily="34" charset="0"/>
                                      <a:cs typeface="Times New Roman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=3,4,5,…</m:t>
                    </m:r>
                  </m:oMath>
                </a14:m>
                <a:r>
                  <a:rPr lang="en-US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+1,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+2,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+3,…</m:t>
                    </m:r>
                  </m:oMath>
                </a14:m>
                <a:endParaRPr lang="en-US" sz="2800" b="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𝑅</m:t>
                    </m:r>
                  </m:oMath>
                </a14:m>
                <a:r>
                  <a:rPr lang="ru-RU" sz="2800" b="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– постоянная Ридберга;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𝜎</m:t>
                    </m:r>
                  </m:oMath>
                </a14:m>
                <a:r>
                  <a:rPr lang="ru-RU" sz="2800" b="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– постоянная, учитывающая экранирующую роль окружающих ядро электронов. Чем дальше электрон от ядра, тем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𝜎</m:t>
                    </m:r>
                  </m:oMath>
                </a14:m>
                <a:r>
                  <a:rPr lang="ru-RU" sz="2800" b="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больше.</a:t>
                </a: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b="0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Данный закон позволяет по длине волны рентгеновских лучей </a:t>
                </a:r>
                <a:r>
                  <a:rPr lang="ru-RU" sz="2800" b="1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точно</a:t>
                </a:r>
                <a:r>
                  <a:rPr lang="ru-RU" sz="2800" b="0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установить атомный номер элемента.</a:t>
                </a:r>
                <a:endParaRPr lang="en-US" sz="2800" b="0" dirty="0">
                  <a:solidFill>
                    <a:srgbClr val="FF0000"/>
                  </a:solidFill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764704"/>
                <a:ext cx="8856984" cy="8385565"/>
              </a:xfrm>
              <a:prstGeom prst="rect">
                <a:avLst/>
              </a:prstGeom>
              <a:blipFill rotWithShape="1">
                <a:blip r:embed="rId2"/>
                <a:stretch>
                  <a:fillRect l="-1376" t="-727" r="-14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22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879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764704"/>
                <a:ext cx="8856984" cy="6248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Связь между энергией фотона и частоты ЭМ излучения: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borderBoxPr>
                        <m:e>
                          <m:r>
                            <a:rPr lang="en-US" sz="2800" i="1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𝐸</m:t>
                          </m:r>
                          <m:r>
                            <a:rPr lang="en-US" sz="2800" i="1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=</m:t>
                          </m:r>
                          <m:r>
                            <a:rPr lang="en-US" sz="2800" i="1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sz="2800" i="1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𝜈</m:t>
                          </m:r>
                          <m:r>
                            <a:rPr lang="en-US" sz="2800" i="1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h𝑐</m:t>
                              </m:r>
                            </m:num>
                            <m:den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𝜆</m:t>
                              </m:r>
                            </m:den>
                          </m:f>
                        </m:e>
                      </m:borderBox>
                    </m:oMath>
                  </m:oMathPara>
                </a14:m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Эта формула </a:t>
                </a:r>
                <a:r>
                  <a:rPr lang="ru-RU" sz="2800" b="1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связывает корпускулярную характеристику – энергию фотона с волновой характеристикой – частотой волны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.</a:t>
                </a: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Фотон и электромагнитная волна – это две модели одного и того же объекта – электромагнитного излучения.</a:t>
                </a: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764704"/>
                <a:ext cx="8856984" cy="6248634"/>
              </a:xfrm>
              <a:prstGeom prst="rect">
                <a:avLst/>
              </a:prstGeom>
              <a:blipFill rotWithShape="1">
                <a:blip r:embed="rId2"/>
                <a:stretch>
                  <a:fillRect l="-1376" t="-976" r="-14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23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292" y="181442"/>
            <a:ext cx="88569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Двойственная природа света</a:t>
            </a:r>
          </a:p>
        </p:txBody>
      </p:sp>
    </p:spTree>
    <p:extLst>
      <p:ext uri="{BB962C8B-B14F-4D97-AF65-F5344CB8AC3E}">
        <p14:creationId xmlns:p14="http://schemas.microsoft.com/office/powerpoint/2010/main" val="6095231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764704"/>
                <a:ext cx="8856984" cy="62619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Согласно теории относительности 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энергия частицы и её импульс связаны: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𝐸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Tahoma" pitchFamily="34" charset="0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/>
                                      <a:ea typeface="Tahoma" pitchFamily="34" charset="0"/>
                                      <a:cs typeface="Times New Roman" pitchFamily="18" charset="0"/>
                                    </a:rPr>
                                    <m:t>𝑐𝑝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- энергия покоя частицы.</a:t>
                </a: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Т.к. масса и энергия покоя фотона равны нулю, то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borderBoxPr>
                        <m:e>
                          <m:eqArr>
                            <m:eqArr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𝐸</m:t>
                              </m:r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=</m:t>
                              </m:r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𝑐𝑝</m:t>
                              </m:r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𝑝</m:t>
                              </m:r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Tahoma" pitchFamily="34" charset="0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latin typeface="Cambria Math"/>
                                      <a:ea typeface="Tahoma" pitchFamily="34" charset="0"/>
                                      <a:cs typeface="Times New Roman" pitchFamily="18" charset="0"/>
                                    </a:rPr>
                                    <m:t>h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latin typeface="Cambria Math"/>
                                      <a:ea typeface="Tahoma" pitchFamily="34" charset="0"/>
                                      <a:cs typeface="Times New Roman" pitchFamily="18" charset="0"/>
                                    </a:rPr>
                                    <m:t>𝜆</m:t>
                                  </m:r>
                                </m:den>
                              </m:f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borderBox>
                    </m:oMath>
                  </m:oMathPara>
                </a14:m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764704"/>
                <a:ext cx="8856984" cy="6261907"/>
              </a:xfrm>
              <a:prstGeom prst="rect">
                <a:avLst/>
              </a:prstGeom>
              <a:blipFill rotWithShape="1">
                <a:blip r:embed="rId2"/>
                <a:stretch>
                  <a:fillRect l="-1376" t="-973" r="-14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24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155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764704"/>
                <a:ext cx="8856984" cy="56671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Давление света зависит от интенсивности света и от отражающей способности тела.</a:t>
                </a: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Величина светового давления: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𝑆</m:t>
                          </m:r>
                        </m:den>
                      </m:f>
                      <m:r>
                        <a:rPr lang="ru-RU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ru-RU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ед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𝑐</m:t>
                          </m:r>
                        </m:den>
                      </m:f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1+</m:t>
                          </m:r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𝜌</m:t>
                          </m:r>
                        </m:e>
                      </m:d>
                    </m:oMath>
                  </m:oMathPara>
                </a14:m>
                <a:endParaRPr lang="en-US" sz="2800" b="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𝐸</m:t>
                        </m:r>
                      </m:e>
                      <m:sub>
                        <m:r>
                          <a:rPr lang="ru-RU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ед</m:t>
                        </m:r>
                      </m:sub>
                    </m:sSub>
                    <m:r>
                      <a:rPr lang="ru-RU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𝑁h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𝜈</m:t>
                    </m:r>
                  </m:oMath>
                </a14:m>
                <a:r>
                  <a:rPr lang="en-US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– 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энергия всех фотонов, падающих на единицу поверхности, т.е. </a:t>
                </a:r>
                <a:r>
                  <a:rPr lang="ru-RU" sz="2800" b="1" u="sng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энергетическая освещенность поверхности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.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𝜌</m:t>
                    </m:r>
                  </m:oMath>
                </a14:m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– коэффициент отражения.</a:t>
                </a: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764704"/>
                <a:ext cx="8856984" cy="5667129"/>
              </a:xfrm>
              <a:prstGeom prst="rect">
                <a:avLst/>
              </a:prstGeom>
              <a:blipFill rotWithShape="1">
                <a:blip r:embed="rId2"/>
                <a:stretch>
                  <a:fillRect l="-1376" t="-1075" r="-14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25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292" y="181442"/>
            <a:ext cx="88569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Давление света</a:t>
            </a:r>
          </a:p>
        </p:txBody>
      </p:sp>
    </p:spTree>
    <p:extLst>
      <p:ext uri="{BB962C8B-B14F-4D97-AF65-F5344CB8AC3E}">
        <p14:creationId xmlns:p14="http://schemas.microsoft.com/office/powerpoint/2010/main" val="322263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764704"/>
                <a:ext cx="8856984" cy="51589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Если тело зеркально, т.е.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𝜌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=1</m:t>
                    </m:r>
                  </m:oMath>
                </a14:m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и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=2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ru-RU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ед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Если зеркало поглощает (абсолютно черное тело), то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𝜌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=0</m:t>
                    </m:r>
                  </m:oMath>
                </a14:m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и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ед</m:t>
                              </m:r>
                            </m:sub>
                          </m:sSub>
                        </m:num>
                        <m:den>
                          <m:r>
                            <a:rPr lang="en-US" sz="2800" i="1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Т.е. световое давление на абсолютно черное тело в два раза меньше, чем на зеркальное.</a:t>
                </a: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764704"/>
                <a:ext cx="8856984" cy="5158976"/>
              </a:xfrm>
              <a:prstGeom prst="rect">
                <a:avLst/>
              </a:prstGeom>
              <a:blipFill rotWithShape="1">
                <a:blip r:embed="rId2"/>
                <a:stretch>
                  <a:fillRect l="-1376" t="-1181" r="-14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26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770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4292" y="764704"/>
            <a:ext cx="885698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В 1924 г. физик Луи де </a:t>
            </a:r>
            <a:r>
              <a:rPr lang="ru-RU" sz="2800" dirty="0" err="1">
                <a:latin typeface="Times New Roman" pitchFamily="18" charset="0"/>
                <a:ea typeface="Tahoma" pitchFamily="34" charset="0"/>
                <a:cs typeface="Times New Roman" pitchFamily="18" charset="0"/>
              </a:rPr>
              <a:t>Броль</a:t>
            </a:r>
            <a:r>
              <a:rPr lang="ru-RU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выдвинул гипотезу:</a:t>
            </a:r>
          </a:p>
          <a:p>
            <a:pPr algn="just"/>
            <a:r>
              <a:rPr lang="ru-RU" sz="2800" b="1" i="1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Дуализм не является особенностью только оптических явлений, а имеет универсальный характер. Частицы вещества также обладают волновыми свойствами.</a:t>
            </a:r>
          </a:p>
          <a:p>
            <a:pPr algn="just"/>
            <a:endParaRPr lang="ru-RU"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Частицы (например, электрон) движущиеся с некоторой скоростью, обладает волновыми свойствами, их можно рассматривать как движение волны.</a:t>
            </a:r>
          </a:p>
          <a:p>
            <a:pPr algn="just"/>
            <a:endParaRPr lang="ru-RU"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endParaRPr lang="ru-RU"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endParaRPr lang="ru-RU"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27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292" y="181442"/>
            <a:ext cx="88569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Корпускулярно-волновой дуализм</a:t>
            </a:r>
          </a:p>
        </p:txBody>
      </p:sp>
    </p:spTree>
    <p:extLst>
      <p:ext uri="{BB962C8B-B14F-4D97-AF65-F5344CB8AC3E}">
        <p14:creationId xmlns:p14="http://schemas.microsoft.com/office/powerpoint/2010/main" val="3054184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764704"/>
                <a:ext cx="8856984" cy="41797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Движение частицы с импульсом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𝑝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𝑚𝑣</m:t>
                    </m:r>
                  </m:oMath>
                </a14:m>
                <a:r>
                  <a:rPr lang="en-US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можно представить как плоскую монохроматическую волну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Ψ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~</m:t>
                    </m:r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Tahoma" pitchFamily="34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  <a:ea typeface="Tahoma" pitchFamily="34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/>
                                    <a:ea typeface="Tahoma" pitchFamily="34" charset="0"/>
                                    <a:cs typeface="Times New Roman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/>
                                    <a:ea typeface="Tahoma" pitchFamily="34" charset="0"/>
                                    <a:cs typeface="Times New Roman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/>
                                <a:ea typeface="Tahoma" pitchFamily="34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(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волну де Бройля) с длиной волны: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sz="2800" b="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ru-RU" sz="2800" i="1" smtClean="0">
                                <a:latin typeface="Cambria Math" panose="02040503050406030204" pitchFamily="18" charset="0"/>
                                <a:ea typeface="Tahoma" pitchFamily="34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/>
                                <a:ea typeface="Tahoma" pitchFamily="34" charset="0"/>
                                <a:cs typeface="Times New Roman" pitchFamily="18" charset="0"/>
                              </a:rPr>
                              <m:t>𝑘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2</m:t>
                        </m:r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h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𝑝</m:t>
                        </m:r>
                      </m:e>
                    </m:acc>
                    <m:r>
                      <a:rPr lang="ru-RU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- волновой вектор</a:t>
                </a: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764704"/>
                <a:ext cx="8856984" cy="4179799"/>
              </a:xfrm>
              <a:prstGeom prst="rect">
                <a:avLst/>
              </a:prstGeom>
              <a:blipFill rotWithShape="1">
                <a:blip r:embed="rId2"/>
                <a:stretch>
                  <a:fillRect l="-1376" t="-1458" r="-14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28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671" y="4077072"/>
            <a:ext cx="5610225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54913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764704"/>
                <a:ext cx="8856984" cy="60696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С учетом,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𝐸</m:t>
                        </m:r>
                      </m:e>
                      <m:sub>
                        <m:r>
                          <a:rPr lang="ru-RU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к</m:t>
                        </m:r>
                      </m:sub>
                    </m:sSub>
                    <m:r>
                      <a:rPr lang="ru-RU" sz="2800" b="0" i="1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Tahoma" pitchFamily="34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/>
                                <a:ea typeface="Tahoma" pitchFamily="34" charset="0"/>
                                <a:cs typeface="Times New Roman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/>
                                <a:ea typeface="Tahoma" pitchFamily="34" charset="0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,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то длину волны можно выразить через энергию:</a:t>
                </a: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h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2</m:t>
                              </m:r>
                              <m:r>
                                <a:rPr lang="en-US" sz="2800" b="0" i="1" smtClean="0"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Tahoma" pitchFamily="34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/>
                                      <a:ea typeface="Tahoma" pitchFamily="34" charset="0"/>
                                      <a:cs typeface="Times New Roman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ru-RU" sz="2800" b="0" i="1" smtClean="0">
                                      <a:latin typeface="Cambria Math"/>
                                      <a:ea typeface="Tahoma" pitchFamily="34" charset="0"/>
                                      <a:cs typeface="Times New Roman" pitchFamily="18" charset="0"/>
                                    </a:rPr>
                                    <m:t>к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ru-RU" sz="2800" b="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При взаимодействии частицы с некоторым объектом – с кристаллом, молекулой и т.п. – её энергия меняется: к ней добавляется потенциальная энергия этого взаимодействия, что приводит к изменению движения частицы. Соответственно меняется и характер распространения связанной с частицей волны, причем это происходит согласно принципам, общим для всех волновых явлений.</a:t>
                </a:r>
                <a:endParaRPr lang="en-US" sz="2800" b="0" dirty="0">
                  <a:solidFill>
                    <a:srgbClr val="FF0000"/>
                  </a:solidFill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764704"/>
                <a:ext cx="8856984" cy="6069675"/>
              </a:xfrm>
              <a:prstGeom prst="rect">
                <a:avLst/>
              </a:prstGeom>
              <a:blipFill rotWithShape="1">
                <a:blip r:embed="rId2"/>
                <a:stretch>
                  <a:fillRect l="-1376" r="-1445" b="-18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29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313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332656"/>
                <a:ext cx="8856984" cy="68133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Дебройлевская длина волны мячика массой 0,20 кг, движущегося со скоростью 15 м/с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:</a:t>
                </a:r>
              </a:p>
              <a:p>
                <a:pPr algn="just"/>
                <a:endParaRPr lang="en-US" sz="2800" b="0" dirty="0">
                  <a:solidFill>
                    <a:srgbClr val="FF0000"/>
                  </a:solidFill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ru-RU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мяча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𝑚𝑣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6,67∙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−34</m:t>
                              </m:r>
                            </m:sup>
                          </m:s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 </m:t>
                          </m:r>
                          <m:r>
                            <a:rPr lang="ru-RU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Дж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∙</m:t>
                          </m:r>
                          <m:r>
                            <a:rPr lang="ru-RU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с</m:t>
                          </m:r>
                        </m:num>
                        <m:den>
                          <m:r>
                            <a:rPr lang="ru-RU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0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,2</m:t>
                          </m:r>
                          <m:r>
                            <a:rPr lang="ru-RU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 кг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∙15</m:t>
                          </m:r>
                          <m:f>
                            <m:f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м</m:t>
                              </m:r>
                            </m:num>
                            <m:den>
                              <m:r>
                                <a:rPr lang="ru-RU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с</m:t>
                              </m:r>
                            </m:den>
                          </m:f>
                        </m:den>
                      </m:f>
                      <m:r>
                        <a:rPr lang="ru-RU" sz="2800" b="0" i="1" smtClean="0">
                          <a:solidFill>
                            <a:srgbClr val="FF0000"/>
                          </a:solidFill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=2,2∙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−34</m:t>
                          </m:r>
                        </m:sup>
                      </m:sSup>
                      <m:r>
                        <a:rPr lang="ru-RU" sz="2800" b="0" i="1" smtClean="0">
                          <a:solidFill>
                            <a:srgbClr val="FF0000"/>
                          </a:solidFill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 м</m:t>
                      </m:r>
                    </m:oMath>
                  </m:oMathPara>
                </a14:m>
                <a:endParaRPr lang="ru-RU" sz="2800" b="0" dirty="0">
                  <a:solidFill>
                    <a:srgbClr val="FF0000"/>
                  </a:solidFill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Такую длину волны обнаружить нельзя, другое дело, если говорить про электрон 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𝑚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=9,1∙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−31</m:t>
                        </m:r>
                      </m:sup>
                    </m:sSup>
                  </m:oMath>
                </a14:m>
                <a:r>
                  <a:rPr lang="ru-RU" sz="2800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кг; скорость при разности потенциалов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𝑈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=100 В</m:t>
                    </m:r>
                  </m:oMath>
                </a14:m>
                <a:r>
                  <a:rPr lang="ru-RU" sz="2800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будет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𝑣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=5,9∙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6</m:t>
                        </m:r>
                      </m:sup>
                    </m:sSup>
                    <m:f>
                      <m:f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ru-RU" sz="2800" b="0" i="1" smtClean="0">
                            <a:solidFill>
                              <a:srgbClr val="FF0000"/>
                            </a:solidFill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м</m:t>
                        </m:r>
                      </m:num>
                      <m:den>
                        <m:r>
                          <a:rPr lang="ru-RU" sz="2800" b="0" i="1" smtClean="0">
                            <a:solidFill>
                              <a:srgbClr val="FF0000"/>
                            </a:solidFill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с</m:t>
                        </m:r>
                      </m:den>
                    </m:f>
                  </m:oMath>
                </a14:m>
                <a:r>
                  <a:rPr lang="ru-RU" sz="2800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):</a:t>
                </a:r>
              </a:p>
              <a:p>
                <a:pPr algn="just"/>
                <a:r>
                  <a:rPr lang="ru-RU" sz="2800" dirty="0">
                    <a:solidFill>
                      <a:srgbClr val="FF0000"/>
                    </a:solidFill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Тогда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ru-RU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эл</m:t>
                          </m:r>
                        </m:sub>
                      </m:sSub>
                      <m:r>
                        <a:rPr lang="ru-RU" sz="2800" b="0" i="1" smtClean="0">
                          <a:solidFill>
                            <a:srgbClr val="FF0000"/>
                          </a:solidFill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6,67∙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−34</m:t>
                              </m:r>
                            </m:sup>
                          </m:sSup>
                        </m:num>
                        <m:den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9,1∙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−31</m:t>
                              </m:r>
                            </m:sup>
                          </m:sSup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∙5,9∙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Tahoma" pitchFamily="34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Tahoma" pitchFamily="34" charset="0"/>
                                  <a:cs typeface="Times New Roman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ru-RU" sz="2800" i="1">
                          <a:solidFill>
                            <a:srgbClr val="FF0000"/>
                          </a:solidFill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=</m:t>
                      </m:r>
                      <m:r>
                        <a:rPr lang="ru-RU" sz="2800" b="0" i="1" smtClean="0">
                          <a:solidFill>
                            <a:srgbClr val="FF0000"/>
                          </a:solidFill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1</m:t>
                      </m:r>
                      <m:r>
                        <a:rPr lang="ru-RU" sz="2800" i="1">
                          <a:solidFill>
                            <a:srgbClr val="FF0000"/>
                          </a:solidFill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,2∙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Tahoma" pitchFamily="34" charset="0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−</m:t>
                          </m:r>
                          <m:r>
                            <a:rPr lang="ru-RU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Tahoma" pitchFamily="34" charset="0"/>
                              <a:cs typeface="Times New Roman" pitchFamily="18" charset="0"/>
                            </a:rPr>
                            <m:t>10</m:t>
                          </m:r>
                        </m:sup>
                      </m:sSup>
                      <m:r>
                        <a:rPr lang="ru-RU" sz="2800" i="1">
                          <a:solidFill>
                            <a:srgbClr val="FF0000"/>
                          </a:solidFill>
                          <a:latin typeface="Cambria Math"/>
                          <a:ea typeface="Tahoma" pitchFamily="34" charset="0"/>
                          <a:cs typeface="Times New Roman" pitchFamily="18" charset="0"/>
                        </a:rPr>
                        <m:t> м</m:t>
                      </m:r>
                    </m:oMath>
                  </m:oMathPara>
                </a14:m>
                <a:endParaRPr lang="ru-RU" sz="2800" dirty="0">
                  <a:solidFill>
                    <a:srgbClr val="FF0000"/>
                  </a:solidFill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ru-RU" sz="2800" dirty="0">
                  <a:solidFill>
                    <a:srgbClr val="FF0000"/>
                  </a:solidFill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endParaRPr lang="en-US" sz="2800" b="0" dirty="0">
                  <a:solidFill>
                    <a:srgbClr val="FF0000"/>
                  </a:solidFill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332656"/>
                <a:ext cx="8856984" cy="6813340"/>
              </a:xfrm>
              <a:prstGeom prst="rect">
                <a:avLst/>
              </a:prstGeom>
              <a:blipFill rotWithShape="1">
                <a:blip r:embed="rId2"/>
                <a:stretch>
                  <a:fillRect l="-1376" t="-895" r="-14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30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0619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4292" y="2045166"/>
            <a:ext cx="885698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Что соизмеримо с длиной волны рентгеновского излучения и такую длину волны можно наблюдать экспериментально в виде дифракции на кристаллической решетке.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31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5362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4292" y="605006"/>
            <a:ext cx="8856984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Иллюстрация дифракции электронов на двух щелях:</a:t>
            </a:r>
          </a:p>
          <a:p>
            <a:pPr algn="just"/>
            <a:endParaRPr lang="ru-RU" sz="2800" dirty="0">
              <a:solidFill>
                <a:srgbClr val="FF0000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endParaRPr lang="ru-RU" sz="2800" dirty="0">
              <a:solidFill>
                <a:srgbClr val="FF0000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endParaRPr lang="ru-RU" sz="2800" dirty="0">
              <a:solidFill>
                <a:srgbClr val="FF0000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endParaRPr lang="ru-RU" sz="2800" dirty="0">
              <a:solidFill>
                <a:srgbClr val="FF0000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endParaRPr lang="ru-RU" sz="2800" dirty="0">
              <a:solidFill>
                <a:srgbClr val="FF0000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endParaRPr lang="ru-RU" sz="2800" dirty="0">
              <a:solidFill>
                <a:srgbClr val="FF0000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endParaRPr lang="ru-RU" sz="2800" dirty="0">
              <a:solidFill>
                <a:srgbClr val="FF0000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endParaRPr lang="ru-RU" sz="2800" dirty="0">
              <a:solidFill>
                <a:srgbClr val="FF0000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endParaRPr lang="ru-RU" sz="2800" dirty="0">
              <a:solidFill>
                <a:srgbClr val="FF0000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б – интенсивность электронов, когда одна из пластин закрыта, в – интенсивность электронов, когда обе пластины открыты.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32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40" y="1340768"/>
            <a:ext cx="7812087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46975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4292" y="605006"/>
                <a:ext cx="8856984" cy="35394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Движение электронов не имеет четкой траектории. Электрон не имеет определенного положения в пространстве в определенный момент времени.</a:t>
                </a:r>
              </a:p>
              <a:p>
                <a:pPr algn="just"/>
                <a:endParaRPr lang="ru-RU" sz="2800" dirty="0">
                  <a:latin typeface="Times New Roman" pitchFamily="18" charset="0"/>
                  <a:ea typeface="Tahoma" pitchFamily="34" charset="0"/>
                  <a:cs typeface="Times New Roman" pitchFamily="18" charset="0"/>
                </a:endParaRPr>
              </a:p>
              <a:p>
                <a:pPr algn="just"/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Вместо функции траектории, частице ставится в соответствие </a:t>
                </a:r>
                <a:r>
                  <a:rPr lang="ru-RU" sz="2800" b="1" u="sng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амплитуда вероятности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/>
                        <a:ea typeface="Tahoma" pitchFamily="34" charset="0"/>
                        <a:cs typeface="Times New Roman" pitchFamily="18" charset="0"/>
                      </a:rPr>
                      <m:t>Ψ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ahoma" pitchFamily="34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𝑦</m:t>
                        </m:r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𝑧</m:t>
                        </m:r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/>
                            <a:ea typeface="Tahoma" pitchFamily="34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.</a:t>
                </a:r>
                <a:r>
                  <a:rPr lang="ru-RU" sz="2800" dirty="0">
                    <a:latin typeface="Times New Roman" pitchFamily="18" charset="0"/>
                    <a:ea typeface="Tahoma" pitchFamily="34" charset="0"/>
                    <a:cs typeface="Times New Roman" pitchFamily="18" charset="0"/>
                  </a:rPr>
                  <a:t> Она определяет вероятности частицы в нахождении в определенных состояниях.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2" y="605006"/>
                <a:ext cx="8856984" cy="3539430"/>
              </a:xfrm>
              <a:prstGeom prst="rect">
                <a:avLst/>
              </a:prstGeom>
              <a:blipFill rotWithShape="1">
                <a:blip r:embed="rId2"/>
                <a:stretch>
                  <a:fillRect l="-1376" t="-1721" r="-1445" b="-37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33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0596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4292" y="605006"/>
            <a:ext cx="885698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По аналогии со светом, что</a:t>
            </a:r>
          </a:p>
          <a:p>
            <a:pPr algn="just"/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Квадрат амплитуды световой волны в какой-либо точке пространства пропорционален числу фотонов, падающих в эту точку. Также интенсивность волн де Бройля определяет число частиц, попавших в эту область. В этом и заключается статистическое, вероятностное толкование волн, связанных с движущимися частицами.</a:t>
            </a:r>
          </a:p>
          <a:p>
            <a:pPr algn="just"/>
            <a:endParaRPr lang="ru-RU" sz="2800" dirty="0">
              <a:solidFill>
                <a:srgbClr val="FF0000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r>
              <a:rPr lang="ru-RU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Квадрат амплитуды </a:t>
            </a:r>
            <a:r>
              <a:rPr lang="ru-RU" sz="2800" dirty="0" err="1">
                <a:latin typeface="Times New Roman" pitchFamily="18" charset="0"/>
                <a:ea typeface="Tahoma" pitchFamily="34" charset="0"/>
                <a:cs typeface="Times New Roman" pitchFamily="18" charset="0"/>
              </a:rPr>
              <a:t>дебройлевкой</a:t>
            </a:r>
            <a:r>
              <a:rPr lang="ru-RU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волны в данной точке пространства является мерой вероятности того, что частица находится в этой области.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34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7786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4292" y="605006"/>
            <a:ext cx="885698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Открытие волновых свойств движущихся частиц вещества явилось величайшим достижением современной физики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 </a:t>
            </a:r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и послужило фундаментом для создания квантовой механики.</a:t>
            </a:r>
          </a:p>
          <a:p>
            <a:pPr algn="just"/>
            <a:endParaRPr lang="ru-RU"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Объектами изучения квантовой механики являются атомы, молекулы, кристаллы, атомные ядра и элементарные частицы (электроны, позитроны, протоны, нейтроны и др.)</a:t>
            </a:r>
            <a:r>
              <a:rPr lang="ru-RU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35</a:t>
            </a:fld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9066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3014</TotalTime>
  <Words>1611</Words>
  <Application>Microsoft Office PowerPoint</Application>
  <PresentationFormat>Экран (4:3)</PresentationFormat>
  <Paragraphs>231</Paragraphs>
  <Slides>35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0" baseType="lpstr">
      <vt:lpstr>Arial</vt:lpstr>
      <vt:lpstr>Calibri</vt:lpstr>
      <vt:lpstr>Cambria Math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Теоретические основы электротехники</dc:title>
  <dc:creator>Ира</dc:creator>
  <cp:lastModifiedBy>FF</cp:lastModifiedBy>
  <cp:revision>256</cp:revision>
  <dcterms:created xsi:type="dcterms:W3CDTF">2019-09-01T01:25:34Z</dcterms:created>
  <dcterms:modified xsi:type="dcterms:W3CDTF">2026-04-08T06:05:46Z</dcterms:modified>
</cp:coreProperties>
</file>